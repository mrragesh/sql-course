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9455" y="34639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algn="ctr">
              <a:spcAft>
                <a:spcPct val="60000"/>
              </a:spcAft>
            </a:pPr>
            <a:r>
              <a:rPr sz="3600" b="1">
                <a:highlight>
                  <a:srgbClr val="FFFF00"/>
                </a:highlight>
              </a:rPr>
              <a:t>SQL Fundamentals</a:t>
            </a:r>
            <a:endParaRPr sz="3600" b="1">
              <a:highlight>
                <a:srgbClr val="FFFF0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28085" y="991870"/>
            <a:ext cx="417068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Aft>
                <a:spcPct val="60000"/>
              </a:spcAft>
            </a:pPr>
            <a:r>
              <a:rPr lang="en-US" sz="3600" b="1">
                <a:solidFill>
                  <a:srgbClr val="0070C0"/>
                </a:solidFill>
              </a:rPr>
              <a:t>Task 1</a:t>
            </a:r>
            <a:endParaRPr lang="en-US" sz="3600" b="1">
              <a:solidFill>
                <a:srgbClr val="0070C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131570" y="1862455"/>
            <a:ext cx="7994015" cy="511810"/>
          </a:xfrm>
          <a:prstGeom prst="rect">
            <a:avLst/>
          </a:prstGeom>
        </p:spPr>
        <p:txBody>
          <a:bodyPr wrap="square">
            <a:spAutoFit/>
          </a:bodyPr>
          <a:p>
            <a:pPr marL="914400" indent="-22860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503050405090304"/>
              <a:buAutoNum type="arabicPeriod"/>
            </a:pPr>
            <a:r>
              <a:rPr sz="2400">
                <a:latin typeface="Arial" panose="020B0604020202090204"/>
                <a:ea typeface="Arial" panose="020B0604020202090204"/>
              </a:rPr>
              <a:t>What is the use of the </a:t>
            </a:r>
            <a:r>
              <a:rPr sz="2400">
                <a:solidFill>
                  <a:schemeClr val="tx1"/>
                </a:solidFill>
                <a:highlight>
                  <a:srgbClr val="FFFF00"/>
                </a:highlight>
                <a:latin typeface="Roboto Mono"/>
                <a:ea typeface="Roboto Mono"/>
              </a:rPr>
              <a:t>CREATE</a:t>
            </a:r>
            <a:r>
              <a:rPr sz="2400">
                <a:solidFill>
                  <a:schemeClr val="tx1"/>
                </a:solidFill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 </a:t>
            </a:r>
            <a:r>
              <a:rPr sz="2400">
                <a:latin typeface="Arial" panose="020B0604020202090204"/>
                <a:ea typeface="Arial" panose="020B0604020202090204"/>
              </a:rPr>
              <a:t>command in SQL?</a:t>
            </a:r>
            <a:endParaRPr sz="2400">
              <a:latin typeface="Arial" panose="020B0604020202090204"/>
              <a:ea typeface="Arial" panose="020B06040202020902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73580" y="2599690"/>
            <a:ext cx="846074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The </a:t>
            </a:r>
            <a:r>
              <a:rPr>
                <a:solidFill>
                  <a:srgbClr val="0070C0"/>
                </a:solidFill>
              </a:rPr>
              <a:t>CREATE </a:t>
            </a:r>
            <a:r>
              <a:t>command is used to create database objects such as tables and databases. </a:t>
            </a:r>
          </a:p>
          <a:p>
            <a:r>
              <a:rPr b="1">
                <a:latin typeface="Arial" panose="020B0604020202090204" pitchFamily="34" charset="0"/>
                <a:cs typeface="Arial" panose="020B0604020202090204" pitchFamily="34" charset="0"/>
              </a:rPr>
              <a:t>For example, we can create a Students table to store student IDs, names, and ages.</a:t>
            </a:r>
            <a:endParaRPr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258570" y="4023995"/>
            <a:ext cx="9689465" cy="511810"/>
          </a:xfrm>
          <a:prstGeom prst="rect">
            <a:avLst/>
          </a:prstGeom>
        </p:spPr>
        <p:txBody>
          <a:bodyPr wrap="square">
            <a:spAutoFit/>
          </a:bodyPr>
          <a:p>
            <a:pPr marL="685800" indent="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503050405090304"/>
              <a:buNone/>
            </a:pPr>
            <a:r>
              <a:rPr lang="en-US" altLang="en-US" sz="2400">
                <a:latin typeface="Arial" panose="020B0604020202090204"/>
                <a:ea typeface="Arial" panose="020B0604020202090204"/>
              </a:rPr>
              <a:t>2. What is the difference between </a:t>
            </a:r>
            <a:r>
              <a:rPr lang="en-US" altLang="en-US" sz="2400"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DROP </a:t>
            </a:r>
            <a:r>
              <a:rPr lang="en-US" altLang="en-US" sz="2400">
                <a:latin typeface="Arial" panose="020B0604020202090204"/>
                <a:ea typeface="Arial" panose="020B0604020202090204"/>
              </a:rPr>
              <a:t>and </a:t>
            </a:r>
            <a:r>
              <a:rPr lang="en-US" altLang="en-US" sz="2400"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TRUNCATE</a:t>
            </a:r>
            <a:r>
              <a:rPr lang="en-US" altLang="en-US" sz="2400">
                <a:latin typeface="Arial" panose="020B0604020202090204"/>
                <a:ea typeface="Arial" panose="020B0604020202090204"/>
              </a:rPr>
              <a:t>?</a:t>
            </a:r>
            <a:endParaRPr lang="en-US" altLang="en-US" sz="2400">
              <a:latin typeface="Arial" panose="020B0604020202090204"/>
              <a:ea typeface="Arial" panose="020B06040202020902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00580" y="4761230"/>
            <a:ext cx="84607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DROP 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removes the entire table, including its structure and data. </a:t>
            </a:r>
            <a:endParaRPr lang="en-US" altLang="en-US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TRUNCATE 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removes all rows from a table but keeps the table structure.</a:t>
            </a:r>
            <a:endParaRPr lang="en-US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3"/>
          <p:cNvGrpSpPr/>
          <p:nvPr/>
        </p:nvGrpSpPr>
        <p:grpSpPr>
          <a:xfrm>
            <a:off x="943610" y="270510"/>
            <a:ext cx="9302750" cy="1156970"/>
            <a:chOff x="1486" y="358"/>
            <a:chExt cx="14650" cy="1822"/>
          </a:xfrm>
        </p:grpSpPr>
        <p:sp>
          <p:nvSpPr>
            <p:cNvPr id="8" name="Text Box 7"/>
            <p:cNvSpPr txBox="1"/>
            <p:nvPr/>
          </p:nvSpPr>
          <p:spPr>
            <a:xfrm>
              <a:off x="1486" y="358"/>
              <a:ext cx="12589" cy="8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685800" indent="0" defTabSz="266700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  <a:buFont typeface="Times New Roman" panose="02020503050405090304"/>
                <a:buNone/>
              </a:pP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3.What does the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ALTER 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command do in SQL?</a:t>
              </a:r>
              <a:endParaRPr lang="en-US" altLang="en-US" sz="2400">
                <a:latin typeface="Arial" panose="020B0604020202090204"/>
                <a:ea typeface="Arial" panose="020B0604020202090204"/>
              </a:endParaRPr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2812" y="1164"/>
              <a:ext cx="13324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ALTER 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is used to change the structure of an existing table. For example, we can add a new email column to the Students table without creating a new table.</a:t>
              </a:r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43610" y="1766570"/>
            <a:ext cx="9302750" cy="1229360"/>
            <a:chOff x="1486" y="2379"/>
            <a:chExt cx="14650" cy="1936"/>
          </a:xfrm>
        </p:grpSpPr>
        <p:sp>
          <p:nvSpPr>
            <p:cNvPr id="4" name="Text Box 3"/>
            <p:cNvSpPr txBox="1"/>
            <p:nvPr/>
          </p:nvSpPr>
          <p:spPr>
            <a:xfrm>
              <a:off x="1486" y="2379"/>
              <a:ext cx="12589" cy="8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685800" indent="0" defTabSz="266700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  <a:buFont typeface="Times New Roman" panose="02020503050405090304"/>
                <a:buNone/>
              </a:pP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4.What is the purpose of the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SELECT 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statement?</a:t>
              </a:r>
              <a:endParaRPr lang="en-US" altLang="en-US" sz="2400">
                <a:latin typeface="Arial" panose="020B0604020202090204"/>
                <a:ea typeface="Arial" panose="020B0604020202090204"/>
              </a:endParaRPr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2812" y="3299"/>
              <a:ext cx="13324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SELECT 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is used to retrieve data from a database. For example, we can display student names and ages using the </a:t>
              </a:r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SELECT 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statement.</a:t>
              </a:r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43610" y="3314065"/>
            <a:ext cx="9302750" cy="1156970"/>
            <a:chOff x="1486" y="4400"/>
            <a:chExt cx="14650" cy="1822"/>
          </a:xfrm>
        </p:grpSpPr>
        <p:sp>
          <p:nvSpPr>
            <p:cNvPr id="6" name="Text Box 5"/>
            <p:cNvSpPr txBox="1"/>
            <p:nvPr/>
          </p:nvSpPr>
          <p:spPr>
            <a:xfrm>
              <a:off x="1486" y="4400"/>
              <a:ext cx="12589" cy="8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685800" indent="0" defTabSz="266700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  <a:buFont typeface="Times New Roman" panose="02020503050405090304"/>
                <a:buNone/>
              </a:pP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5.What is a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PRIMARY KEY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 and why is it important?</a:t>
              </a:r>
              <a:endParaRPr lang="en-US" altLang="en-US" sz="2400">
                <a:latin typeface="Arial" panose="020B0604020202090204"/>
                <a:ea typeface="Arial" panose="020B0604020202090204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2812" y="5206"/>
              <a:ext cx="13324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A primary key uniquely identifies each row in a table. For example, every student can have a unique student ID. A primary key cannot contain </a:t>
              </a:r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NULL 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values.</a:t>
              </a:r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943610" y="4788535"/>
            <a:ext cx="10271125" cy="511810"/>
          </a:xfrm>
          <a:prstGeom prst="rect">
            <a:avLst/>
          </a:prstGeom>
        </p:spPr>
        <p:txBody>
          <a:bodyPr wrap="square">
            <a:spAutoFit/>
          </a:bodyPr>
          <a:p>
            <a:pPr marL="685800" indent="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503050405090304"/>
              <a:buNone/>
            </a:pPr>
            <a:r>
              <a:rPr lang="en-US" altLang="en-US" sz="2400">
                <a:latin typeface="Arial" panose="020B0604020202090204"/>
                <a:ea typeface="Arial" panose="020B0604020202090204"/>
              </a:rPr>
              <a:t>6.What is the difference between </a:t>
            </a:r>
            <a:r>
              <a:rPr lang="en-US" altLang="en-US" sz="2400"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PRIMARY KEY</a:t>
            </a:r>
            <a:r>
              <a:rPr lang="en-US" altLang="en-US" sz="2400">
                <a:latin typeface="Arial" panose="020B0604020202090204"/>
                <a:ea typeface="Arial" panose="020B0604020202090204"/>
              </a:rPr>
              <a:t> and </a:t>
            </a:r>
            <a:r>
              <a:rPr lang="en-US" altLang="en-US" sz="2400"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UNIQUE</a:t>
            </a:r>
            <a:r>
              <a:rPr lang="en-US" altLang="en-US" sz="2400">
                <a:latin typeface="Arial" panose="020B0604020202090204"/>
                <a:ea typeface="Arial" panose="020B0604020202090204"/>
              </a:rPr>
              <a:t>?</a:t>
            </a:r>
            <a:endParaRPr lang="en-US" altLang="en-US" sz="2400">
              <a:latin typeface="Arial" panose="020B0604020202090204"/>
              <a:ea typeface="Arial" panose="020B06040202020902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785620" y="5300980"/>
            <a:ext cx="866521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Both </a:t>
            </a: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primary key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 and </a:t>
            </a: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unique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 constraints prevent duplicate values. However, a table can have only one primary key constraint, but it can have multiple unique constraints. A primary key cannot contain </a:t>
            </a: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NULL 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values, while the handling of </a:t>
            </a: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NULL 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values in a unique constraint depends on the database system.</a:t>
            </a:r>
            <a:endParaRPr lang="en-US" altLang="en-US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3"/>
          <p:cNvGrpSpPr/>
          <p:nvPr/>
        </p:nvGrpSpPr>
        <p:grpSpPr>
          <a:xfrm>
            <a:off x="943610" y="270510"/>
            <a:ext cx="11097895" cy="1433830"/>
            <a:chOff x="1486" y="358"/>
            <a:chExt cx="17477" cy="2258"/>
          </a:xfrm>
        </p:grpSpPr>
        <p:sp>
          <p:nvSpPr>
            <p:cNvPr id="8" name="Text Box 7"/>
            <p:cNvSpPr txBox="1"/>
            <p:nvPr/>
          </p:nvSpPr>
          <p:spPr>
            <a:xfrm>
              <a:off x="1486" y="358"/>
              <a:ext cx="14428" cy="8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685800" indent="0" defTabSz="266700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  <a:buFont typeface="Times New Roman" panose="02020503050405090304"/>
                <a:buNone/>
              </a:pP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7.What is the difference between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WHERE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 and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HAVING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?</a:t>
              </a:r>
              <a:endParaRPr lang="en-US" altLang="en-US" sz="2400">
                <a:latin typeface="Arial" panose="020B0604020202090204"/>
                <a:ea typeface="Arial" panose="020B0604020202090204"/>
              </a:endParaRPr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2812" y="1164"/>
              <a:ext cx="16151" cy="14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WHERE 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filters individual rows before grouping. </a:t>
              </a:r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HAVING 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filters groups after </a:t>
              </a:r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GROUP BY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 is applied.</a:t>
              </a:r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For example, WHERE can select students older than 18, while HAVING can select departments with more than ten students.</a:t>
              </a:r>
              <a:endParaRPr lang="en-US" altLang="en-US" b="1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43610" y="1766570"/>
            <a:ext cx="9672955" cy="1506220"/>
            <a:chOff x="1486" y="2379"/>
            <a:chExt cx="15233" cy="2372"/>
          </a:xfrm>
        </p:grpSpPr>
        <p:sp>
          <p:nvSpPr>
            <p:cNvPr id="4" name="Text Box 3"/>
            <p:cNvSpPr txBox="1"/>
            <p:nvPr/>
          </p:nvSpPr>
          <p:spPr>
            <a:xfrm>
              <a:off x="1486" y="2379"/>
              <a:ext cx="15233" cy="8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685800" indent="0" defTabSz="266700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  <a:buFont typeface="Times New Roman" panose="02020503050405090304"/>
                <a:buNone/>
              </a:pP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8.What is an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INNER JOIN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 and what kind of rows does it return?</a:t>
              </a:r>
              <a:endParaRPr lang="en-US" altLang="en-US" sz="2400">
                <a:latin typeface="Arial" panose="020B0604020202090204"/>
                <a:ea typeface="Arial" panose="020B0604020202090204"/>
              </a:endParaRPr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2812" y="3299"/>
              <a:ext cx="13324" cy="14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INNER JOIN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 combines records from two tables based on a matching condition. For example, we can combine student details with exam marks using a common student ID. It returns only the matching records.</a:t>
              </a:r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43610" y="3314065"/>
            <a:ext cx="9302750" cy="1988185"/>
            <a:chOff x="1486" y="4400"/>
            <a:chExt cx="14650" cy="3131"/>
          </a:xfrm>
        </p:grpSpPr>
        <p:sp>
          <p:nvSpPr>
            <p:cNvPr id="6" name="Text Box 5"/>
            <p:cNvSpPr txBox="1"/>
            <p:nvPr/>
          </p:nvSpPr>
          <p:spPr>
            <a:xfrm>
              <a:off x="1486" y="4400"/>
              <a:ext cx="12589" cy="80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685800" indent="0" defTabSz="266700">
                <a:lnSpc>
                  <a:spcPct val="114000"/>
                </a:lnSpc>
                <a:spcBef>
                  <a:spcPct val="0"/>
                </a:spcBef>
                <a:spcAft>
                  <a:spcPct val="0"/>
                </a:spcAft>
                <a:buFont typeface="Times New Roman" panose="02020503050405090304"/>
                <a:buNone/>
              </a:pP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9.What is the use of </a:t>
              </a:r>
              <a:r>
                <a:rPr lang="en-US" altLang="en-US" sz="2400">
                  <a:highlight>
                    <a:srgbClr val="FFFF00"/>
                  </a:highlight>
                  <a:latin typeface="Arial" panose="020B0604020202090204"/>
                  <a:ea typeface="Arial" panose="020B0604020202090204"/>
                </a:rPr>
                <a:t>GROUP BY</a:t>
              </a:r>
              <a:r>
                <a:rPr lang="en-US" altLang="en-US" sz="2400">
                  <a:latin typeface="Arial" panose="020B0604020202090204"/>
                  <a:ea typeface="Arial" panose="020B0604020202090204"/>
                </a:rPr>
                <a:t> in SQL?</a:t>
              </a:r>
              <a:endParaRPr lang="en-US" altLang="en-US" sz="2400">
                <a:latin typeface="Arial" panose="020B0604020202090204"/>
                <a:ea typeface="Arial" panose="020B0604020202090204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2812" y="5206"/>
              <a:ext cx="13324" cy="23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GROUP BY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 groups rows with the same values. It is commonly used with functions such as </a:t>
              </a:r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COUNT, SUM,</a:t>
              </a:r>
              <a:r>
                <a:rPr lang="en-US" altLang="en-US">
                  <a:latin typeface="Arial" panose="020B0604020202090204" pitchFamily="34" charset="0"/>
                  <a:cs typeface="Arial" panose="020B0604020202090204" pitchFamily="34" charset="0"/>
                </a:rPr>
                <a:t> and </a:t>
              </a:r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AVG.</a:t>
              </a:r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altLang="en-US" b="1">
                  <a:latin typeface="Arial" panose="020B0604020202090204" pitchFamily="34" charset="0"/>
                  <a:cs typeface="Arial" panose="020B0604020202090204" pitchFamily="34" charset="0"/>
                </a:rPr>
                <a:t>For example, we can count the number of students in each department.</a:t>
              </a:r>
              <a:endParaRPr lang="en-US" altLang="en-US" b="1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endParaRPr lang="en-US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943610" y="4788535"/>
            <a:ext cx="10723245" cy="511810"/>
          </a:xfrm>
          <a:prstGeom prst="rect">
            <a:avLst/>
          </a:prstGeom>
        </p:spPr>
        <p:txBody>
          <a:bodyPr wrap="square">
            <a:spAutoFit/>
          </a:bodyPr>
          <a:p>
            <a:pPr marL="685800" indent="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503050405090304"/>
              <a:buNone/>
            </a:pPr>
            <a:r>
              <a:rPr lang="en-US" altLang="en-US" sz="2400">
                <a:latin typeface="Arial" panose="020B0604020202090204"/>
                <a:ea typeface="Arial" panose="020B0604020202090204"/>
              </a:rPr>
              <a:t>10.What is the difference between </a:t>
            </a:r>
            <a:r>
              <a:rPr lang="en-US" altLang="en-US" sz="2400"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PRIMARY KEY</a:t>
            </a:r>
            <a:r>
              <a:rPr lang="en-US" altLang="en-US" sz="2400">
                <a:latin typeface="Arial" panose="020B0604020202090204"/>
                <a:ea typeface="Arial" panose="020B0604020202090204"/>
              </a:rPr>
              <a:t> and </a:t>
            </a:r>
            <a:r>
              <a:rPr lang="en-US" altLang="en-US" sz="2400">
                <a:highlight>
                  <a:srgbClr val="FFFF00"/>
                </a:highlight>
                <a:latin typeface="Arial" panose="020B0604020202090204"/>
                <a:ea typeface="Arial" panose="020B0604020202090204"/>
              </a:rPr>
              <a:t>FOREIGN KEY</a:t>
            </a:r>
            <a:r>
              <a:rPr lang="en-US" altLang="en-US" sz="2400">
                <a:latin typeface="Arial" panose="020B0604020202090204"/>
                <a:ea typeface="Arial" panose="020B0604020202090204"/>
              </a:rPr>
              <a:t> ?</a:t>
            </a:r>
            <a:endParaRPr lang="en-US" altLang="en-US" sz="2400">
              <a:latin typeface="Arial" panose="020B0604020202090204"/>
              <a:ea typeface="Arial" panose="020B06040202020902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785620" y="5300980"/>
            <a:ext cx="866521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A </a:t>
            </a: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primary key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 uniquely identifies a row in a table. A </a:t>
            </a:r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foreign key</a:t>
            </a:r>
            <a:r>
              <a:rPr lang="en-US" altLang="en-US">
                <a:latin typeface="Arial" panose="020B0604020202090204" pitchFamily="34" charset="0"/>
                <a:cs typeface="Arial" panose="020B0604020202090204" pitchFamily="34" charset="0"/>
              </a:rPr>
              <a:t> connects related tables and helps maintain relationships between their records.</a:t>
            </a:r>
            <a:endParaRPr lang="en-US" altLang="en-US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For example, a student table can use a department ID as a foreign key to connect each student to a department.</a:t>
            </a:r>
            <a:endParaRPr lang="en-US" altLang="en-US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2395</Words>
  <Application>WPS Writer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Times New Roman</vt:lpstr>
      <vt:lpstr>Arial</vt:lpstr>
      <vt:lpstr>Roboto Mono</vt:lpstr>
      <vt:lpstr>Thonburi</vt:lpstr>
      <vt:lpstr>Default Design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ragesh</dc:creator>
  <cp:lastModifiedBy>WPS_1786684420</cp:lastModifiedBy>
  <cp:revision>3</cp:revision>
  <dcterms:created xsi:type="dcterms:W3CDTF">2026-10-11T07:30:27Z</dcterms:created>
  <dcterms:modified xsi:type="dcterms:W3CDTF">2026-10-11T07:30:27Z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0051AEA0DD4E9FBE7F31CB6AAD96A33E_41</vt:lpwstr>
  </property>
  <property fmtid="{D5CDD505-2E9C-101B-9397-08002B2CF9AE}" pid="3" name="KSOProductBuildVer">
    <vt:lpwstr>1033-12.1.23155.23155</vt:lpwstr>
  </property>
</Properties>
</file>